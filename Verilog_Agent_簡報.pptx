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通過率 (%)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agent</c:v>
                  </c:pt>
                  <c:pt idx="1">
                    <c:v>no_decompose</c:v>
                  </c:pt>
                  <c:pt idx="2">
                    <c:v>no_helper_tools</c:v>
                  </c:pt>
                  <c:pt idx="3">
                    <c:v>no_debug_hints</c:v>
                  </c:pt>
                  <c:pt idx="4">
                    <c:v>no_error_details</c:v>
                  </c:pt>
                  <c:pt idx="5">
                    <c:v>no_memory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93.4</c:v>
                </c:pt>
                <c:pt idx="1">
                  <c:v>93</c:v>
                </c:pt>
                <c:pt idx="2">
                  <c:v>92.3</c:v>
                </c:pt>
                <c:pt idx="3">
                  <c:v>92</c:v>
                </c:pt>
                <c:pt idx="4">
                  <c:v>88.5</c:v>
                </c:pt>
                <c:pt idx="5">
                  <c:v>88.2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agent（146 題通過）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Attempt 1</c:v>
                  </c:pt>
                  <c:pt idx="1">
                    <c:v>Attempt 2</c:v>
                  </c:pt>
                  <c:pt idx="2">
                    <c:v>Attempt 3</c:v>
                  </c:pt>
                  <c:pt idx="3">
                    <c:v>Attempt 4</c:v>
                  </c:pt>
                  <c:pt idx="4">
                    <c:v>Attempt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</c:v>
                </c:pt>
                <c:pt idx="1">
                  <c:v>20</c:v>
                </c:pt>
                <c:pt idx="2">
                  <c:v>9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no_memory（136 題通過）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Attempt 1</c:v>
                  </c:pt>
                  <c:pt idx="1">
                    <c:v>Attempt 2</c:v>
                  </c:pt>
                  <c:pt idx="2">
                    <c:v>Attempt 3</c:v>
                  </c:pt>
                  <c:pt idx="3">
                    <c:v>Attempt 4</c:v>
                  </c:pt>
                  <c:pt idx="4">
                    <c:v>Attempt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112</c:v>
                </c:pt>
                <c:pt idx="1">
                  <c:v>15</c:v>
                </c:pt>
                <c:pt idx="2">
                  <c:v>4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R（Runtime mismatch）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</c:v>
                  </c:pt>
                  <c:pt idx="1">
                    <c:v>no_debug_hints</c:v>
                  </c:pt>
                  <c:pt idx="2">
                    <c:v>no_decompose</c:v>
                  </c:pt>
                  <c:pt idx="3">
                    <c:v>no_helper_tools</c:v>
                  </c:pt>
                  <c:pt idx="4">
                    <c:v>no_error_details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</c:v>
                </c:pt>
                <c:pt idx="1">
                  <c:v>101</c:v>
                </c:pt>
                <c:pt idx="2">
                  <c:v>91</c:v>
                </c:pt>
                <c:pt idx="3">
                  <c:v>93</c:v>
                </c:pt>
                <c:pt idx="4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w（Wire）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</c:v>
                  </c:pt>
                  <c:pt idx="1">
                    <c:v>no_debug_hints</c:v>
                  </c:pt>
                  <c:pt idx="2">
                    <c:v>no_decompose</c:v>
                  </c:pt>
                  <c:pt idx="3">
                    <c:v>no_helper_tools</c:v>
                  </c:pt>
                  <c:pt idx="4">
                    <c:v>no_error_details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13</c:v>
                </c:pt>
                <c:pt idx="2">
                  <c:v>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e（Explicit cast）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</c:v>
                  </c:pt>
                  <c:pt idx="1">
                    <c:v>no_debug_hints</c:v>
                  </c:pt>
                  <c:pt idx="2">
                    <c:v>no_decompose</c:v>
                  </c:pt>
                  <c:pt idx="3">
                    <c:v>no_helper_tools</c:v>
                  </c:pt>
                  <c:pt idx="4">
                    <c:v>no_error_details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13</c:v>
                </c:pt>
                <c:pt idx="3">
                  <c:v>14</c:v>
                </c:pt>
                <c:pt idx="4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agent</c:v>
                  </c:pt>
                  <c:pt idx="1">
                    <c:v>no_debug_hints</c:v>
                  </c:pt>
                  <c:pt idx="2">
                    <c:v>no_decompose</c:v>
                  </c:pt>
                  <c:pt idx="3">
                    <c:v>no_helper_tools</c:v>
                  </c:pt>
                  <c:pt idx="4">
                    <c:v>no_error_details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5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RTL 生成 Agent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RL for Hardware Description Language Generation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3383280"/>
            <a:ext cx="54864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X 組　邱立宇・戴庭涵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6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一、研究背景與動機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0" y="822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p.3–4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二、相關文獻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15087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三、系統架構與方法論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8952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p.6–11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四、實驗設計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89520" y="2880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66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五、實驗結果與分析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952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p.13–18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54864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六、結論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0" y="4251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p.19–20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研究背景：HDL 生成的挑戰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在高階語言（Python、C++）生成已成熟，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Verilog RTL 面臨更嚴格的三重約束：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2651760" cy="7315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64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語義正確性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模擬輸出必須與規格完全一致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9164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64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合成可行性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1762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程式碼必須能被合成為實際電路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691640"/>
            <a:ext cx="26517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647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時序正確性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17627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狀態轉移、同步 reset 必須精確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46120"/>
            <a:ext cx="8412480" cy="91440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核心問題：現有 LLM 缺乏從工具執行回饋中自我修正的機制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能模擬但無法合成、或合成後功能有誤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914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設計並實作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298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Gemini Function Calling 驅動的 Verilog RTL 生成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745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1920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兩階段通過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3042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模擬正確性（iverilog+vvp）＋ 合成可行性（yosys）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六組 Ablation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3101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 error feedback 記憶、decompose_spec、get_debug_hints 各要素的貢獻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86200"/>
            <a:ext cx="73152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862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資料集品質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3159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在實驗中發現並修正 VerilogEval 中 3 道題目的描述問題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相關文獻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146304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31673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8686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Synergizing Reasoning and Acting in LLMs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12984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Thought–Act–Observation 迴圈，現代 Agent 的理論基礎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828800"/>
            <a:ext cx="146304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74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RLEF / CodeRL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3225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18745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Code Generation through Deep RL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230428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以執行回饋作為 reward signal 微調 LLM 的開創性工作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14630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88036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LLMs for Verilog Code Generation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65960" y="331012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 156 題標準 Verilog benchmark 與 iverilog 評測腳本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146304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862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334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65960" y="3886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Outperforming GPT in RTL Generation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65960" y="431596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針對 Verilog 微調的開源 LLM；本研究採用 inference-time 方案而非微調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系統架構：六個模組、單一職責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agent/task.py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25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配置單一來源：路徑、system prompt、任務名稱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agent/tools.py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6517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工具層：iverilog、vvp、yosys 呼叫與結果解析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566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agent/prompts.py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39776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導向文字：system prompt、DEBUG_HINTS 診斷清單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2296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agent/agent.py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1325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多輪對話迴圈：function dispatch、Episode 狀態追蹤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1488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14884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agent/dataset.py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26517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 I/O：題目讀取、outputs/ 結果儲存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4747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474720"/>
            <a:ext cx="4206240" cy="640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566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56048" y="39776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批次執行器：六組實驗 × 兩種任務，ThreadPoolExecutor 並行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強化學習框架：In-Context RL / RLEF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MDP（Markov Decision Process）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228600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State（狀態）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6217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005840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題目描述 ＋ 當前程式碼 ＋ error_type ＋ error_log ＋ attempt_number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73936"/>
            <a:ext cx="228600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739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Action（動作）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1773936"/>
            <a:ext cx="6217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88920" y="1773936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生成/修正程式碼（文字輸出）＋ 呼叫工具（function calling）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228600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42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終止條件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542032"/>
            <a:ext cx="6217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88920" y="2542032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sim_passed AND synth_passed（完整通過）；或達到 max_attempts 上限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10128"/>
            <a:ext cx="228600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1012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Policy（策略）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3310128"/>
            <a:ext cx="6217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88920" y="3310128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Gemini（不做梯度更新，透過 error feedback 在推理時調整）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78224"/>
            <a:ext cx="2286000" cy="6766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7822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Episode（回合）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51760" y="4078224"/>
            <a:ext cx="62179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88920" y="4078224"/>
            <a:ext cx="5943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VerilogEval 題目，最多 5 次 compile_and_test 嘗試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ReAct 框架（Yao et al., 2022）的 Thought-Act-Observation 循環，無需梯度更新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兩階段通過機制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擴充傳統 VerilogEval 的單一模擬驗證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384048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模擬驗證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compile_and_test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編譯 + vvp 模擬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RefModule 比對每個時脈輸出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sim_passed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14400"/>
            <a:ext cx="38404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合成驗證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合成性檢查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確認程式碼可被實際電路合成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sim_passed AND synth_passed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240280"/>
            <a:ext cx="36576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歷史最佳結果追蹤：sim+synth 通過（2分）&gt; 僅模擬通過（1分）&gt; 未通過（0分）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避免「前期通過、後期修改後退步」的問題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工具設計：四個 Function Calling 工具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137160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91440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compile_and_test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74520" y="134416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iverilog + vvp 驗證程式碼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回傳 passed / error_type / error_log / mismatch_count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1371600" cy="9144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19202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74520" y="235000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yosys 合成性驗證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只驗證能否合成，不產生 netlist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137160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29260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decompose_spec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74520" y="335584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呼叫獨立 Gemini 將題目分解為 3–7 個子目標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於複雜題目多次失敗後使用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86200"/>
            <a:ext cx="13716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86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74520" y="393192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get_debug_hints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74520" y="4361688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傳入 error_type，查詢 DEBUG_HINTS 診斷清單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必須在 compile_and_test 失敗後才能呼叫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種細粒度錯誤分類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移植自 VerilogEval 官方 sv-iv-analyze 腳本，可直接比對公開基準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18288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41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31720" y="841248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850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7208" y="850392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語法錯誤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22192" y="841248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67912" y="850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850392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12664" y="841248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58384" y="850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88152" y="850392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位元寬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41248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48856" y="850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78624" y="850392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sensitivities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93608" y="841248"/>
            <a:ext cx="71323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39328" y="850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69096" y="850392"/>
            <a:ext cx="1920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賦值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128016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77440" y="1289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07208" y="128930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module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22192" y="128016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867912" y="1289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97680" y="128930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 未綁定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12664" y="128016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58384" y="1289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88152" y="128930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未綁定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03136" y="1280160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48856" y="1289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78624" y="1289304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通用編譯錯誤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1810512"/>
            <a:ext cx="18288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18105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Error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331720" y="181051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377440" y="181965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807208" y="1819656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mismatch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22192" y="181051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867912" y="181965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297680" y="1819656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12664" y="181051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358384" y="181965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788152" y="1819656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reset（靜態）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2340864"/>
            <a:ext cx="18288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3408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331720" y="2340864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377440" y="235000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807208" y="2350008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合成通過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22192" y="2340864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867912" y="235000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297680" y="2350008"/>
            <a:ext cx="896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合成錯誤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設計：三項規則 ＋ 動態工具段落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41248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_RULES_COMMON（三項 Verilog 規則）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353312"/>
            <a:ext cx="41148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5331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39903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只使用 logic，不使用 wire / reg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41148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488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@(*) 不寫 sensitivity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411480" cy="5486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5292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8986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 reset 不放在 sensitivity list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841248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841248"/>
            <a:ext cx="411480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41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build_system_prompt（動態工具段落）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353312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問題：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停用工具，但 prompt 仍提及不可呼叫的工具 → 模型行為混亂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19933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解法：根據 enabled_tools 動態生成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13716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377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有可選工具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附加工具說明段落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880360"/>
            <a:ext cx="137160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880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無可選工具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只保留次數限制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794760"/>
            <a:ext cx="841248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此設計確保各實驗組的 prompt 與實際可呼叫工具完全一致，ablation 結果不受干擾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六組 Ablation Study 設計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以完整 Agent 為基準，逐一移除各輔助機制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21945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9601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46120" y="960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＋ synthesize ＋ decompose ＋ get_debug_hints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18488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618488"/>
            <a:ext cx="2194560" cy="594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184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no_decompose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16184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46120" y="161848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＋ synthesize ＋ get_debug_hints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27685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76856"/>
            <a:ext cx="2194560" cy="5943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7685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no_debug_hints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2768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2276856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＋ synthesize ＋ decompose_spec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935224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35224"/>
            <a:ext cx="21945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3522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no_helper_tools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29352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46120" y="293522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＋ synthesize（僅核心工具）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9359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593592"/>
            <a:ext cx="219456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5935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no_error_details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5935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246120" y="35935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全部（但 compile/synthesize 只回傳 passed）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4251960"/>
            <a:ext cx="219456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51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no_memory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51760" y="4251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246120" y="42519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全部（5 次獨立 session，各 max_attempts=1）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51760" y="777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實驗結果：通過率（spec-to-rtl，156 題）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86868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43600" y="96012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2801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03504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/ 156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28600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no_memory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35040" y="2606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035040" y="31546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/ 156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0" y="3611880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35040" y="39319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pp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035040" y="44805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記憶的貢獻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分析：記憶 &gt; 工具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各設計要素的通過率貢獻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68680"/>
            <a:ext cx="548640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68680"/>
            <a:ext cx="51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960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多輪記憶（−5.2 pp）影響最大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39903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no_memory 下降 5.2 個百分點，是所有因素中最大的單一影響。每次 session 從空白 context 出發，無法累積前次 error log 的修正進展。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5486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194560"/>
            <a:ext cx="51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2286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錯誤細節等同記憶（−4.9 pp）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72491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no_error_details 下降幅度與 no_memory 接近，顯示「知道失敗了但不知為何失敗」，效果幾乎等同於沒有記憶。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20440"/>
            <a:ext cx="54864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520440"/>
            <a:ext cx="51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5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移除全部工具僅差 1.1 pp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5079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no_helper_tools 通過率 92.3%，與 agent（93.6%）差距極小。在有 error feedback 記憶的前提下，工具的邊際效益有限，核心效能由迭代反饋迴圈驅動。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分布：多輪嘗試的邊際貢獻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841248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agent：77% 題目第一次即通過；14% 在第二次 error feedback 修正後通過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no_memory：第一次通過率更高（82%），但複雜題目無法在跨 session 中累積修正進展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錯誤類型分布：R 類佔主導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計算所有 attempt 的累積錯誤次數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841248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類（Runtime mismatch）佔所有錯誤的 72–80%，是最主要的效能瓶頸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累積錯誤（99 次）少於 no_helper_tools（130 次）→ 工具幫助更快收斂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案例研究：Prob140_fsm_hdlc（4 次修復成功）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HDLC 序列偵測 FSM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005840" cy="7132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81328" y="84124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decompose_spec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84124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個子目標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841248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主動將 HDLC FSM 分解為子目標：位元計數器、狀態機邏輯、輸出控制、同步重置、整合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0058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81328" y="164592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compile_and_test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200" y="164592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e（8 處）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64592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enum 型別 → 8 個 explicit cast 錯誤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32304"/>
            <a:ext cx="100584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32304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81328" y="245059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compile_and_test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get_debug_hints(e)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24505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e（8 處）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450592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同類錯誤再現 → 主動查詢 get_debug_hints → 取得「改用 localparam + logic」的根本解法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36976"/>
            <a:ext cx="1005840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36976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81328" y="325526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compile_and_test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325526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R（24 筆）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25526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 localparam 後編譯通過；disc、flag 正確，僅 err 輸出有 24 筆不符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41648"/>
            <a:ext cx="1005840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41648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481328" y="40599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compile_and_test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synthesize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6200" y="405993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05993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 err 條件（連續 6 個 1）→ 模擬 + 合成全部通過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高失敗率題目特徵分析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六組實驗中 ≥4 組失敗的題目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8229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9509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Prob116_m2014_q3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變數 K-map + don't-care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371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化簡多解，模型推導與 testbench 預期不符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20240"/>
            <a:ext cx="82296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202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25880" y="19568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Prob149_ece241_2013_q4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雙向水位感測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77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描述修正後仍全失敗；6 狀態雙向 FSM 超出模型 5 次內推理能力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26080"/>
            <a:ext cx="82296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296265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Prob140_fsm_hdlc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383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HDLC 序列偵測 FSM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383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 no_helper_tools 偶然通過；輸出時序需精確對齊 0-stuffing 邊界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31920"/>
            <a:ext cx="82296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9319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39684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Prob155_lemmings4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4389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Lemmings 進階 FSM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438912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 no_helper_tools 偶然通過；下落計時器 + 多優先順序行為複雜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兩類效能瓶頸：複雜 FSM（狀態轉移時序難以從 mismatch count 定位）＋ K-map 化簡（數學推導正確性）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設計限制與未來工作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Gemini 的 Verilog RTL 生成 Agent　第 X 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48691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41248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412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設計限制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3611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模型固定（gemini-3.1-flash-lite），未探討不同 LLM 的影響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類錯誤回饋資訊量不足（只有 mismatch count，無具體失敗輸入）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generic synth 可能與實際 FPGA 結果有差異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隨機性使單次 ablation 結果存在 ±3pp 波動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841248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841248"/>
            <a:ext cx="429768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841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未來工作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325880"/>
            <a:ext cx="39776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以成功修復軌跡作為 fine-tuning 資料，訓練更有效利用 error feedback 的 LLM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 VCD 波形，提供具體失敗輸入/輸出對比（提升 R 類修復成功率）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整合時序分析（STA）作為合成驗證的額外維度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多模型比較（GPT-4o、Claude、Gemini Pro）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94360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Agent 在 spec-to-rtl 達到 93.6% 通過率（156 題中 146 題）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9436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21031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核心貢獻是「有記憶的 error feedback 迴圈」，移除記憶或錯誤細節各下降 ~5 pp；移除全部工具只差 1.1 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9436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類（Runtime mismatch）佔失敗的 72–80%，複雜 FSM 是主要瓶頸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59436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77640"/>
            <a:ext cx="594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實驗中發現並修正 VerilogEval 3 道題目的描述問題，作為資料集品質的額外貢獻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X 組　邱立宇・戴庭涵　2026 年 6 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基於 Gemini 的 Verilog RTL 生成 Agent</dc:title>
  <dc:subject>PptxGenJS Presentation</dc:subject>
  <dc:creator>邱立宇、戴庭涵</dc:creator>
  <cp:lastModifiedBy>邱立宇、戴庭涵</cp:lastModifiedBy>
  <cp:revision>1</cp:revision>
  <dcterms:created xsi:type="dcterms:W3CDTF">2026-06-01T12:35:41Z</dcterms:created>
  <dcterms:modified xsi:type="dcterms:W3CDTF">2026-06-01T12:35:41Z</dcterms:modified>
</cp:coreProperties>
</file>